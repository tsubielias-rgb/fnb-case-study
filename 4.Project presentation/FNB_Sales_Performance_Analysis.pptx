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A7A0"/>
            </a:solidFill>
            <a:ln>
              <a:solidFill>
                <a:srgbClr val="00A7A0"/>
              </a:solidFill>
            </a:ln>
          </c:spPr>
          <c:dLbls>
            <c:numFmt formatCode="0&quot;M&quot;" sourceLinked="0"/>
            <c:txPr>
              <a:bodyPr/>
              <a:lstStyle/>
              <a:p>
                <a:pPr>
                  <a:defRPr sz="1000" b="1">
                    <a:solidFill>
                      <a:srgbClr val="1824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64</c:v>
                </c:pt>
                <c:pt idx="2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DA4944"/>
            </a:solidFill>
            <a:ln>
              <a:solidFill>
                <a:srgbClr val="DA4944"/>
              </a:solidFill>
            </a:ln>
          </c:spPr>
          <c:dLbls>
            <c:numFmt formatCode="0&quot;M&quot;" sourceLinked="0"/>
            <c:txPr>
              <a:bodyPr/>
              <a:lstStyle/>
              <a:p>
                <a:pPr>
                  <a:defRPr sz="1000" b="1">
                    <a:solidFill>
                      <a:srgbClr val="1824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</c:v>
                </c:pt>
                <c:pt idx="1">
                  <c:v>68</c:v>
                </c:pt>
                <c:pt idx="2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solidFill>
                <a:srgbClr val="E6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 val="0"/>
        <c:axPos val="l"/>
        <c:majorGridlines>
          <c:spPr>
            <a:ln>
              <a:solidFill>
                <a:srgbClr val="E6ECEC"/>
              </a:solidFill>
            </a:ln>
          </c:spPr>
        </c:majorGridlines>
        <c:numFmt formatCode="0&quot;M&quot;" sourceLinked="0"/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677780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5A623"/>
            </a:solidFill>
            <a:ln>
              <a:solidFill>
                <a:srgbClr val="F5A623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</c:v>
                </c:pt>
                <c:pt idx="1">
                  <c:v>15.5</c:v>
                </c:pt>
                <c:pt idx="2">
                  <c:v>16.5</c:v>
                </c:pt>
                <c:pt idx="3">
                  <c:v>19</c:v>
                </c:pt>
                <c:pt idx="4">
                  <c:v>20.5</c:v>
                </c:pt>
                <c:pt idx="5">
                  <c:v>18.5</c:v>
                </c:pt>
                <c:pt idx="6">
                  <c:v>12</c:v>
                </c:pt>
                <c:pt idx="7">
                  <c:v>18</c:v>
                </c:pt>
                <c:pt idx="8">
                  <c:v>15.5</c:v>
                </c:pt>
                <c:pt idx="9">
                  <c:v>13</c:v>
                </c:pt>
                <c:pt idx="10">
                  <c:v>11</c:v>
                </c:pt>
                <c:pt idx="11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solidFill>
                <a:srgbClr val="E6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0.0"/>
        </c:scaling>
        <c:delete val="0"/>
        <c:axPos val="l"/>
        <c:majorGridlines>
          <c:spPr>
            <a:ln>
              <a:solidFill>
                <a:srgbClr val="E6ECEC"/>
              </a:solidFill>
            </a:ln>
          </c:spPr>
        </c:majorGridlines>
        <c:numFmt formatCode="0.0&quot;M&quot;" sourceLinked="0"/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sales</c:v>
                </c:pt>
              </c:strCache>
            </c:strRef>
          </c:tx>
          <c:spPr>
            <a:solidFill>
              <a:srgbClr val="00A7A0"/>
            </a:solidFill>
            <a:ln>
              <a:solidFill>
                <a:srgbClr val="00A7A0"/>
              </a:solidFill>
            </a:ln>
          </c:spPr>
          <c:dPt>
            <c:idx val="0"/>
            <c:spPr>
              <a:solidFill>
                <a:srgbClr val="00A7A0"/>
              </a:solidFill>
              <a:ln>
                <a:solidFill>
                  <a:srgbClr val="00A7A0"/>
                </a:solidFill>
              </a:ln>
            </c:spPr>
          </c:dPt>
          <c:dPt>
            <c:idx val="1"/>
            <c:spPr>
              <a:solidFill>
                <a:srgbClr val="00A7A0"/>
              </a:solidFill>
              <a:ln>
                <a:solidFill>
                  <a:srgbClr val="00A7A0"/>
                </a:solidFill>
              </a:ln>
            </c:spPr>
          </c:dPt>
          <c:dPt>
            <c:idx val="2"/>
            <c:spPr>
              <a:solidFill>
                <a:srgbClr val="00A7A0"/>
              </a:solidFill>
              <a:ln>
                <a:solidFill>
                  <a:srgbClr val="00A7A0"/>
                </a:solidFill>
              </a:ln>
            </c:spPr>
          </c:dPt>
          <c:dPt>
            <c:idx val="3"/>
            <c:spPr>
              <a:solidFill>
                <a:srgbClr val="00A7A0"/>
              </a:solidFill>
              <a:ln>
                <a:solidFill>
                  <a:srgbClr val="00A7A0"/>
                </a:solidFill>
              </a:ln>
            </c:spPr>
          </c:dPt>
          <c:dPt>
            <c:idx val="4"/>
            <c:spPr>
              <a:solidFill>
                <a:srgbClr val="F5A623"/>
              </a:solidFill>
              <a:ln>
                <a:solidFill>
                  <a:srgbClr val="F5A623"/>
                </a:solidFill>
              </a:ln>
            </c:spPr>
          </c:dPt>
          <c:dPt>
            <c:idx val="5"/>
            <c:spPr>
              <a:solidFill>
                <a:srgbClr val="F5A623"/>
              </a:solidFill>
              <a:ln>
                <a:solidFill>
                  <a:srgbClr val="F5A623"/>
                </a:solidFill>
              </a:ln>
            </c:spPr>
          </c:dPt>
          <c:dPt>
            <c:idx val="6"/>
            <c:spPr>
              <a:solidFill>
                <a:srgbClr val="00A7A0"/>
              </a:solidFill>
              <a:ln>
                <a:solidFill>
                  <a:srgbClr val="00A7A0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155</c:v>
                </c:pt>
                <c:pt idx="1">
                  <c:v>140</c:v>
                </c:pt>
                <c:pt idx="2">
                  <c:v>145</c:v>
                </c:pt>
                <c:pt idx="3">
                  <c:v>140</c:v>
                </c:pt>
                <c:pt idx="4">
                  <c:v>245</c:v>
                </c:pt>
                <c:pt idx="5">
                  <c:v>275</c:v>
                </c:pt>
                <c:pt idx="6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solidFill>
                <a:srgbClr val="E6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  <c:min val="0.0"/>
        </c:scaling>
        <c:delete val="0"/>
        <c:axPos val="b"/>
        <c:majorGridlines>
          <c:spPr>
            <a:ln>
              <a:solidFill>
                <a:srgbClr val="E6ECEC"/>
              </a:solidFill>
            </a:ln>
          </c:spPr>
        </c:majorGridlines>
        <c:numFmt formatCode="0&quot;K&quot;" sourceLinked="0"/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A7A0"/>
            </a:solidFill>
            <a:ln>
              <a:solidFill>
                <a:srgbClr val="00A7A0"/>
              </a:solidFill>
            </a:ln>
          </c:spPr>
          <c:dLbls>
            <c:txPr>
              <a:bodyPr/>
              <a:lstStyle/>
              <a:p>
                <a:pPr>
                  <a:defRPr sz="900" b="1"/>
                </a:pPr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66.5</c:v>
                </c:pt>
                <c:pt idx="1">
                  <c:v>33.5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/ unit</c:v>
                </c:pt>
              </c:strCache>
            </c:strRef>
          </c:tx>
          <c:spPr>
            <a:solidFill>
              <a:srgbClr val="00A7A0"/>
            </a:solidFill>
            <a:ln w="31750">
              <a:solidFill>
                <a:srgbClr val="00A7A0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37.3</c:v>
                </c:pt>
                <c:pt idx="1">
                  <c:v>36.7</c:v>
                </c:pt>
                <c:pt idx="2">
                  <c:v>37.7</c:v>
                </c:pt>
                <c:pt idx="3">
                  <c:v>36.5</c:v>
                </c:pt>
                <c:pt idx="4">
                  <c:v>36.4</c:v>
                </c:pt>
                <c:pt idx="5">
                  <c:v>35.9</c:v>
                </c:pt>
                <c:pt idx="6">
                  <c:v>37.8</c:v>
                </c:pt>
                <c:pt idx="7">
                  <c:v>35.6</c:v>
                </c:pt>
                <c:pt idx="8">
                  <c:v>36.2</c:v>
                </c:pt>
                <c:pt idx="9">
                  <c:v>38.3</c:v>
                </c:pt>
                <c:pt idx="10">
                  <c:v>38.6</c:v>
                </c:pt>
                <c:pt idx="11">
                  <c:v>38.1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/ unit</c:v>
                </c:pt>
              </c:strCache>
            </c:strRef>
          </c:tx>
          <c:spPr>
            <a:solidFill>
              <a:srgbClr val="DA4944"/>
            </a:solidFill>
            <a:ln w="31750">
              <a:solidFill>
                <a:srgbClr val="DA4944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37.7</c:v>
                </c:pt>
                <c:pt idx="1">
                  <c:v>36.8</c:v>
                </c:pt>
                <c:pt idx="2">
                  <c:v>37.9</c:v>
                </c:pt>
                <c:pt idx="3">
                  <c:v>37.6</c:v>
                </c:pt>
                <c:pt idx="4">
                  <c:v>37.1</c:v>
                </c:pt>
                <c:pt idx="5">
                  <c:v>36.7</c:v>
                </c:pt>
                <c:pt idx="6">
                  <c:v>36.7</c:v>
                </c:pt>
                <c:pt idx="7">
                  <c:v>36.5</c:v>
                </c:pt>
                <c:pt idx="8">
                  <c:v>35.9</c:v>
                </c:pt>
                <c:pt idx="9">
                  <c:v>37.0</c:v>
                </c:pt>
                <c:pt idx="10">
                  <c:v>38.1</c:v>
                </c:pt>
                <c:pt idx="11">
                  <c:v>39.6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>
              <a:solidFill>
                <a:srgbClr val="E6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35.0"/>
        </c:scaling>
        <c:delete val="0"/>
        <c:axPos val="l"/>
        <c:majorGridlines>
          <c:spPr>
            <a:ln>
              <a:solidFill>
                <a:srgbClr val="E6ECE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E6ECEC"/>
            </a:solidFill>
          </a:ln>
        </c:spPr>
        <c:txPr>
          <a:bodyPr/>
          <a:lstStyle/>
          <a:p>
            <a:pPr>
              <a:defRPr sz="900">
                <a:solidFill>
                  <a:srgbClr val="677780"/>
                </a:solidFill>
                <a:latin typeface="Aptos"/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77780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central tension: the business generated meaningful sales volume, but costs exceeded sales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page as the one-minute summary. The dashboard points to a margin problem first, then a demand concentration opportunity, then a structural sales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message is not only that sales declined. Cost remained higher than sales throughout, so the business did not convert scale into gross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 is the highest month-of-year aggregate. The larger concern is the sharp drop into 2016 Q4, which merits root-cause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Saturday is 96% above Tuesday and Thursday. Use the peak window to protect availability and the softer days for targeted demand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suggests a recurring price-cost mismatch. Only July, September, October and November show positive unit spread on the displayed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daily distribution shows that negative margin is the norm in the source data. That points to a systemic issue rather than a few exceptional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action. The first 30 days should establish margin guardrails and assign owners; the next 60 should test interventions and monitor weekly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FNB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566928"/>
            <a:ext cx="2331720" cy="320040"/>
          </a:xfrm>
          <a:prstGeom prst="roundRect">
            <a:avLst>
              <a:gd name="adj" fmla="val 8000"/>
            </a:avLst>
          </a:prstGeom>
          <a:solidFill>
            <a:srgbClr val="113847"/>
          </a:solidFill>
          <a:ln>
            <a:solidFill>
              <a:srgbClr val="11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8280" y="576072"/>
            <a:ext cx="23317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EBDC6"/>
                </a:solidFill>
                <a:latin typeface="Aptos"/>
              </a:rPr>
              <a:t>SALES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75895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Sales performance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21868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2D7DA"/>
                </a:solidFill>
                <a:latin typeface="Aptos"/>
              </a:rPr>
              <a:t>Management overview | Revenue, profitability and demand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87968" y="1508760"/>
            <a:ext cx="2359152" cy="2359152"/>
          </a:xfrm>
          <a:prstGeom prst="roundRect">
            <a:avLst>
              <a:gd name="adj" fmla="val 8000"/>
            </a:avLst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1993392"/>
            <a:ext cx="217627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186.9M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267919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9253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2D7DA"/>
                </a:solidFill>
                <a:latin typeface="Aptos"/>
              </a:rPr>
              <a:t>2013–Jan 2017 dashboard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925312"/>
            <a:ext cx="4096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2D7DA"/>
                </a:solidFill>
                <a:latin typeface="Aptos"/>
              </a:rPr>
              <a:t>Prepared from the attached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Scale is present — profitability is the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The dashboard reports a cumulative gross loss despite 186.9M in sales.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02996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0A7A0"/>
                </a:solidFill>
                <a:latin typeface="Aptos"/>
              </a:rPr>
              <a:t>186.9M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8716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77780"/>
                </a:solidFill>
                <a:latin typeface="Aptos"/>
              </a:rPr>
              <a:t>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1847088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E6ECEC"/>
          </a:solidFill>
          <a:ln>
            <a:solidFill>
              <a:srgbClr val="E6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202996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A1F33"/>
                </a:solidFill>
                <a:latin typeface="Aptos"/>
              </a:rPr>
              <a:t>194.0M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48716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77780"/>
                </a:solidFill>
                <a:latin typeface="Aptos"/>
              </a:rPr>
              <a:t>Total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6632" y="1847088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FAE5E3"/>
          </a:solidFill>
          <a:ln>
            <a:solidFill>
              <a:srgbClr val="FA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2996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A4944"/>
                </a:solidFill>
                <a:latin typeface="Aptos"/>
              </a:rPr>
              <a:t>-7.1M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8716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77780"/>
                </a:solidFill>
                <a:latin typeface="Aptos"/>
              </a:rPr>
              <a:t>Gross 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1847088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FEF2D6"/>
          </a:solidFill>
          <a:ln>
            <a:solidFill>
              <a:srgbClr val="FEF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202996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Aptos"/>
              </a:rPr>
              <a:t>5.3M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48716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77780"/>
                </a:solidFill>
                <a:latin typeface="Aptos"/>
              </a:rPr>
              <a:t>Units sold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0344" y="1847088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FAE5E3"/>
          </a:solidFill>
          <a:ln>
            <a:solidFill>
              <a:srgbClr val="FA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202996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A4944"/>
                </a:solidFill>
                <a:latin typeface="Aptos"/>
              </a:rPr>
              <a:t>-3.81%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48716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77780"/>
                </a:solidFill>
                <a:latin typeface="Aptos"/>
              </a:rPr>
              <a:t>Avg GP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101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1F33"/>
                </a:solidFill>
                <a:latin typeface="Aptos"/>
              </a:rPr>
              <a:t>Three management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67328"/>
            <a:ext cx="64008" cy="658368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67328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1F33"/>
                </a:solidFill>
                <a:latin typeface="Aptos"/>
              </a:rPr>
              <a:t>Cost base is above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050791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780"/>
                </a:solidFill>
                <a:latin typeface="Aptos"/>
              </a:rPr>
              <a:t>Overall cost exceeds sales by 7.1M; margin recovery is the immediate priority.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8" y="3767328"/>
            <a:ext cx="64008" cy="65836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767328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1F33"/>
                </a:solidFill>
                <a:latin typeface="Aptos"/>
              </a:rPr>
              <a:t>Demand concentrates late in the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050791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780"/>
                </a:solidFill>
                <a:latin typeface="Aptos"/>
              </a:rPr>
              <a:t>Friday and Saturday are the strongest sales days, creating a clear staffing and stock window.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5552" y="3767328"/>
            <a:ext cx="64008" cy="658368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3767328"/>
            <a:ext cx="3264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1F33"/>
                </a:solidFill>
                <a:latin typeface="Aptos"/>
              </a:rPr>
              <a:t>Performance weakened over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4050791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780"/>
                </a:solidFill>
                <a:latin typeface="Aptos"/>
              </a:rPr>
              <a:t>Annual sales fell from 75M in 2014 to 47M in 2016, while cost stayed above sales.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892040"/>
            <a:ext cx="10771632" cy="1097280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892040"/>
            <a:ext cx="73152" cy="1097280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056631"/>
            <a:ext cx="10405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Decision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367527"/>
            <a:ext cx="10405872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Protect peak-day availability, fix loss-making unit economics, and investigate the post-2014 sales decline by product, branch and customer segment.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PERFORMANCE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Sales declined 37% from 2014 to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Costs remained above sales in every full year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800"/>
          <a:ext cx="67208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9248" y="1975104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77780"/>
                </a:solidFill>
                <a:latin typeface="Aptos"/>
              </a:rPr>
              <a:t>ANNUAL SALES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267712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A4944"/>
                </a:solidFill>
                <a:latin typeface="Aptos"/>
              </a:rPr>
              <a:t>−37%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77977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77780"/>
                </a:solidFill>
                <a:latin typeface="Aptos"/>
              </a:rPr>
              <a:t>2014 → 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3337560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77780"/>
                </a:solidFill>
                <a:latin typeface="Aptos"/>
              </a:rPr>
              <a:t>GROSS LOSS BY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370332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77780"/>
                </a:solidFill>
                <a:latin typeface="Aptos"/>
              </a:rPr>
              <a:t>2014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3721608"/>
            <a:ext cx="1060704" cy="201168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3675887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A4944"/>
                </a:solidFill>
                <a:latin typeface="Aptos"/>
              </a:rPr>
              <a:t>-2M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417880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77780"/>
                </a:solidFill>
                <a:latin typeface="Aptos"/>
              </a:rPr>
              <a:t>2015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4197096"/>
            <a:ext cx="2121408" cy="201168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415137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A4944"/>
                </a:solidFill>
                <a:latin typeface="Aptos"/>
              </a:rPr>
              <a:t>-4M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65429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77780"/>
                </a:solidFill>
                <a:latin typeface="Aptos"/>
              </a:rPr>
              <a:t>2016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672584"/>
            <a:ext cx="530352" cy="201168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0" y="46268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A4944"/>
                </a:solidFill>
                <a:latin typeface="Aptos"/>
              </a:rPr>
              <a:t>-1M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5285232"/>
            <a:ext cx="3566160" cy="713232"/>
          </a:xfrm>
          <a:prstGeom prst="roundRect">
            <a:avLst>
              <a:gd name="adj" fmla="val 8000"/>
            </a:avLst>
          </a:prstGeom>
          <a:solidFill>
            <a:srgbClr val="FAE5E3"/>
          </a:solidFill>
          <a:ln>
            <a:solidFill>
              <a:srgbClr val="FA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9248" y="5285232"/>
            <a:ext cx="73152" cy="713232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544982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Read-through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760720"/>
            <a:ext cx="3200400" cy="10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2015 carried the largest annual loss in the dashboard. 2016 narrowed the loss, but on a materially smaller sales 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May is the strongest month; Q4 2016 drops sharply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Monthly and quarterly views indicate both recurring seasonality and a late-period slowdown.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800"/>
          <a:ext cx="662940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8470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QUARTERLY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3172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A1F33"/>
                </a:solidFill>
                <a:latin typeface="Aptos"/>
              </a:rPr>
              <a:t>2014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510443"/>
            <a:ext cx="438912" cy="433924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99008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184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832" y="2450176"/>
            <a:ext cx="438912" cy="494191"/>
          </a:xfrm>
          <a:prstGeom prst="rect">
            <a:avLst/>
          </a:prstGeom>
          <a:solidFill>
            <a:srgbClr val="2EBDC6"/>
          </a:solidFill>
          <a:ln>
            <a:solidFill>
              <a:srgbClr val="2EB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299008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22157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20.5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56064" y="2414015"/>
            <a:ext cx="438912" cy="530352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56064" y="299008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6064" y="2185415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69296" y="2599639"/>
            <a:ext cx="438912" cy="344728"/>
          </a:xfrm>
          <a:prstGeom prst="rect">
            <a:avLst/>
          </a:prstGeom>
          <a:solidFill>
            <a:srgbClr val="007B7E"/>
          </a:solidFill>
          <a:ln>
            <a:solidFill>
              <a:srgbClr val="00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69296" y="299008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9296" y="2371039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14.3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3192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A1F33"/>
                </a:solidFill>
                <a:latin typeface="Aptos"/>
              </a:rPr>
              <a:t>2015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594423"/>
            <a:ext cx="438912" cy="337496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977639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6582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2832" y="3457013"/>
            <a:ext cx="438912" cy="474906"/>
          </a:xfrm>
          <a:prstGeom prst="rect">
            <a:avLst/>
          </a:prstGeom>
          <a:solidFill>
            <a:srgbClr val="2EBDC6"/>
          </a:solidFill>
          <a:ln>
            <a:solidFill>
              <a:srgbClr val="2EB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3977639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322841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19.7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6064" y="3637815"/>
            <a:ext cx="438912" cy="294104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6064" y="3977639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064" y="3409215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12.2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69296" y="3490763"/>
            <a:ext cx="438912" cy="441156"/>
          </a:xfrm>
          <a:prstGeom prst="rect">
            <a:avLst/>
          </a:prstGeom>
          <a:solidFill>
            <a:srgbClr val="007B7E"/>
          </a:solidFill>
          <a:ln>
            <a:solidFill>
              <a:srgbClr val="00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9296" y="3977639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9296" y="326216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18.3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306824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A1F33"/>
                </a:solidFill>
                <a:latin typeface="Aptos"/>
              </a:rPr>
              <a:t>2016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596439"/>
            <a:ext cx="438912" cy="323032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9651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367839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13.4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42832" y="4471083"/>
            <a:ext cx="438912" cy="448388"/>
          </a:xfrm>
          <a:prstGeom prst="rect">
            <a:avLst/>
          </a:prstGeom>
          <a:solidFill>
            <a:srgbClr val="2EBDC6"/>
          </a:solidFill>
          <a:ln>
            <a:solidFill>
              <a:srgbClr val="2EB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42832" y="49651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424248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18.6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56064" y="4659117"/>
            <a:ext cx="438912" cy="260354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56064" y="49651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6064" y="4430517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10.8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69296" y="4813401"/>
            <a:ext cx="438912" cy="106070"/>
          </a:xfrm>
          <a:prstGeom prst="rect">
            <a:avLst/>
          </a:prstGeom>
          <a:solidFill>
            <a:srgbClr val="007B7E"/>
          </a:solidFill>
          <a:ln>
            <a:solidFill>
              <a:srgbClr val="00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69296" y="49651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77780"/>
                </a:solidFill>
                <a:latin typeface="Aptos"/>
              </a:rPr>
              <a:t>Q4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9296" y="4584801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82430"/>
                </a:solidFill>
                <a:latin typeface="Aptos"/>
              </a:rPr>
              <a:t>4.4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5285232"/>
            <a:ext cx="3657600" cy="713232"/>
          </a:xfrm>
          <a:prstGeom prst="roundRect">
            <a:avLst>
              <a:gd name="adj" fmla="val 8000"/>
            </a:avLst>
          </a:prstGeom>
          <a:solidFill>
            <a:srgbClr val="FEF2D6"/>
          </a:solidFill>
          <a:ln>
            <a:solidFill>
              <a:srgbClr val="FEF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20" y="5285232"/>
            <a:ext cx="73152" cy="713232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99832" y="5449824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Critical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9832" y="5760720"/>
            <a:ext cx="3291840" cy="10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2016 Q4 sales were 4.4M — 59% below Q3 and the weakest full quarter shown.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Friday and Saturday are the commercial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Two weekend days contribute one-third of sales; Saturday records the highest daily average.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800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85623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WEEKLY SALES SHARE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589520" y="2240280"/>
          <a:ext cx="347472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4828032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4828032"/>
            <a:ext cx="73152" cy="1170432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2" y="4992624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Operational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2" y="5303520"/>
            <a:ext cx="329184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Prioritise stock availability and service capacity from Friday into Saturday; test targeted offers on softer Tuesday, Thursday and Sunday periods.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Price exceeded cost in only four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The widest positive spread occurs in October; December shows the deepest negative spread.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800"/>
          <a:ext cx="7315200" cy="40965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938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77780"/>
                </a:solidFill>
                <a:latin typeface="Aptos"/>
              </a:rPr>
              <a:t>POSITIVE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331720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23865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1F33"/>
                </a:solidFill>
                <a:latin typeface="Aptos"/>
              </a:rPr>
              <a:t>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8658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4A067"/>
                </a:solidFill>
                <a:latin typeface="Aptos"/>
              </a:rPr>
              <a:t>+1.1 /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834639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88950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1F33"/>
                </a:solidFill>
                <a:latin typeface="Aptos"/>
              </a:rPr>
              <a:t>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889503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4A067"/>
                </a:solidFill>
                <a:latin typeface="Aptos"/>
              </a:rPr>
              <a:t>+0.3 / 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37560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39242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1F33"/>
                </a:solidFill>
                <a:latin typeface="Aptos"/>
              </a:rPr>
              <a:t>Oct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39242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4A067"/>
                </a:solidFill>
                <a:latin typeface="Aptos"/>
              </a:rPr>
              <a:t>+1.3 / unit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840480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895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1F33"/>
                </a:solidFill>
                <a:latin typeface="Aptos"/>
              </a:rPr>
              <a:t>Nov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89534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4A067"/>
                </a:solidFill>
                <a:latin typeface="Aptos"/>
              </a:rPr>
              <a:t>+0.5 / unit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681728"/>
            <a:ext cx="3035808" cy="1298448"/>
          </a:xfrm>
          <a:prstGeom prst="roundRect">
            <a:avLst>
              <a:gd name="adj" fmla="val 8000"/>
            </a:avLst>
          </a:prstGeom>
          <a:solidFill>
            <a:srgbClr val="FAE5E3"/>
          </a:solidFill>
          <a:ln>
            <a:solidFill>
              <a:srgbClr val="FA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681728"/>
            <a:ext cx="73152" cy="1298448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846320"/>
            <a:ext cx="2670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5157216"/>
            <a:ext cx="267004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Focus corrective action on December (−1.5/unit), April (−1.1/unit) and August (−0.9/unit), then validate product-mix effects.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PROFITABILITY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Loss-making days dominate the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Approximately 62% of daily observations fall below 0% gross profit.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gp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086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65008" y="19659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77780"/>
                </a:solidFill>
                <a:latin typeface="Aptos"/>
              </a:rPr>
              <a:t>BELOW 0% 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2267712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A4944"/>
                </a:solidFill>
                <a:latin typeface="Aptos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31272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77780"/>
                </a:solidFill>
                <a:latin typeface="Aptos"/>
              </a:rPr>
              <a:t>ABOVE 0% GP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342900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4A067"/>
                </a:solidFill>
                <a:latin typeface="Aptos"/>
              </a:rPr>
              <a:t>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590288"/>
            <a:ext cx="3200400" cy="1325880"/>
          </a:xfrm>
          <a:prstGeom prst="roundRect">
            <a:avLst>
              <a:gd name="adj" fmla="val 8000"/>
            </a:avLst>
          </a:prstGeom>
          <a:solidFill>
            <a:srgbClr val="FAE5E3"/>
          </a:solidFill>
          <a:ln>
            <a:solidFill>
              <a:srgbClr val="FA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4590288"/>
            <a:ext cx="73152" cy="1325880"/>
          </a:xfrm>
          <a:prstGeom prst="rect">
            <a:avLst/>
          </a:prstGeom>
          <a:solidFill>
            <a:srgbClr val="DA4944"/>
          </a:solidFill>
          <a:ln>
            <a:solidFill>
              <a:srgbClr val="DA4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75487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What this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065775"/>
            <a:ext cx="283464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The loss is broad-based rather than confined to a handful of outliers. Recovery needs repeatable pricing, cost and mix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A7A0"/>
                </a:solidFill>
                <a:latin typeface="Aptos"/>
              </a:rPr>
              <a:t>ACTION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A1F33"/>
                </a:solidFill>
                <a:latin typeface="Aptos"/>
              </a:rPr>
              <a:t>A focused 90-day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77780"/>
                </a:solidFill>
                <a:latin typeface="Aptos"/>
              </a:rPr>
              <a:t>Sequence margin stabilisation before growth acceleration.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7778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FAE5E3"/>
          </a:solidFill>
          <a:ln>
            <a:solidFill>
              <a:srgbClr val="FA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11680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A494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1993392"/>
            <a:ext cx="400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1F33"/>
                </a:solidFill>
                <a:latin typeface="Aptos"/>
              </a:rPr>
              <a:t>Stabilise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386584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Set price-cost guardrails by product and branch. Review December, April and August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2011680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A7A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7" y="1993392"/>
            <a:ext cx="400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1F33"/>
                </a:solidFill>
                <a:latin typeface="Aptos"/>
              </a:rPr>
              <a:t>Protect peak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7" y="2386584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Align stock, staffing and fulfilment to Friday–Saturday volumes; monitor lost-sales indicators.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FEF2D6"/>
          </a:solidFill>
          <a:ln>
            <a:solidFill>
              <a:srgbClr val="FEF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86200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3867911"/>
            <a:ext cx="400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1F33"/>
                </a:solidFill>
                <a:latin typeface="Aptos"/>
              </a:rPr>
              <a:t>Diagnose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4261104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Bridge the 2014–2016 sales contraction by product, branch, customer and volume versus price.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703320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DDF3F1"/>
          </a:solidFill>
          <a:ln>
            <a:solidFill>
              <a:srgbClr val="DD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7" y="3886200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7B7E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7" y="3867911"/>
            <a:ext cx="400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1F33"/>
                </a:solidFill>
                <a:latin typeface="Aptos"/>
              </a:rPr>
              <a:t>Build a weekly cockpit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7" y="4261104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Track sales, unit spread, gross profit and peak-day availability with named owners and thresholds.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69280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669280"/>
            <a:ext cx="73152" cy="603504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33872"/>
            <a:ext cx="10469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33"/>
                </a:solidFill>
                <a:latin typeface="Aptos"/>
              </a:rPr>
              <a:t>Success measures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144768"/>
            <a:ext cx="10469880" cy="-9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82430"/>
                </a:solidFill>
                <a:latin typeface="Aptos"/>
              </a:rPr>
              <a:t>Positive monthly gross profit • narrowing cost-to-sales gap • recovery in weak quarters • no availability loss on peak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8155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BDC6"/>
                </a:solidFill>
                <a:latin typeface="Aptos"/>
              </a:rPr>
              <a:t>Success measures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97296"/>
            <a:ext cx="8887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Positive monthly gross profit  •  narrowing cost-to-sales gap  •  recovery in weak quarters  •  no availability loss on peak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780"/>
                </a:solidFill>
                <a:latin typeface="Aptos"/>
              </a:rPr>
              <a:t>Source: FNB Sales DataStudio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53796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77780"/>
                </a:solidFill>
                <a:latin typeface="Aptos"/>
              </a:rPr>
              <a:t>CONFIDENTIAL • MANAGEMENT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7A0"/>
          </a:solidFill>
          <a:ln>
            <a:solidFill>
              <a:srgbClr val="00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94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BDC6"/>
                </a:solidFill>
                <a:latin typeface="Aptos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Source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2D7DA"/>
                </a:solidFill>
                <a:latin typeface="Aptos"/>
              </a:rPr>
              <a:t>Original pages retained for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5943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C2D7D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solidFill>
              <a:srgbClr val="F7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77780"/>
                </a:solidFill>
                <a:latin typeface="Aptos"/>
              </a:rPr>
              <a:t>SOURCE DASHBOARD • PAGE 1</a:t>
            </a:r>
          </a:p>
        </p:txBody>
      </p:sp>
      <p:pic>
        <p:nvPicPr>
          <p:cNvPr id="4" name="Picture 3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06" y="502920"/>
            <a:ext cx="8681882" cy="6144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92840" y="155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777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solidFill>
              <a:srgbClr val="F7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77780"/>
                </a:solidFill>
                <a:latin typeface="Aptos"/>
              </a:rPr>
              <a:t>SOURCE DASHBOARD • PAGE 2</a:t>
            </a:r>
          </a:p>
        </p:txBody>
      </p:sp>
      <p:pic>
        <p:nvPicPr>
          <p:cNvPr id="4" name="Picture 3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06" y="502920"/>
            <a:ext cx="8681882" cy="6144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92840" y="155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777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solidFill>
              <a:srgbClr val="F7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77780"/>
                </a:solidFill>
                <a:latin typeface="Aptos"/>
              </a:rPr>
              <a:t>SOURCE DASHBOARD • PAGE 3</a:t>
            </a:r>
          </a:p>
        </p:txBody>
      </p:sp>
      <p:pic>
        <p:nvPicPr>
          <p:cNvPr id="4" name="Picture 3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06" y="502920"/>
            <a:ext cx="8681882" cy="6144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92840" y="155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777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FNB Sales Performance Analysis</dc:title>
  <dc:subject>Management presentation based on FNB Sales DataStudio dashboard</dc:subject>
  <dc:creator>Prepared from supplied dashboard</dc:creator>
  <cp:keywords>FNB, sales, profitability, dashboard, management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